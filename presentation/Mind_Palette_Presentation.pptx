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60"/>
  </p:normalViewPr>
  <p:slideViewPr>
    <p:cSldViewPr snapToGrid="0" snapToObjects="1">
      <p:cViewPr varScale="1">
        <p:scale>
          <a:sx n="152" d="100"/>
          <a:sy n="152" d="100"/>
        </p:scale>
        <p:origin x="576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FFFFFF">
                  <a:lumMod val="5000"/>
                  <a:lumOff val="95000"/>
                </a:srgbClr>
              </a:gs>
              <a:gs pos="100000">
                <a:srgbClr val="F8F9FF">
                  <a:lumMod val="10000"/>
                  <a:lumOff val="90000"/>
                </a:srgbClr>
              </a:gs>
            </a:gsLst>
            <a:lin ang="189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82880" y="182880"/>
            <a:ext cx="1371600" cy="4572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772400" y="4114800"/>
            <a:ext cx="365760" cy="365760"/>
          </a:xfrm>
          <a:prstGeom prst="roundRect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71600" y="83439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 dirty="0">
                <a:solidFill>
                  <a:srgbClr val="667EEA"/>
                </a:solidFill>
                <a:latin typeface="Arial"/>
              </a:rPr>
              <a:t>Mind Palette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920240"/>
            <a:ext cx="6400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dirty="0" err="1">
                <a:solidFill>
                  <a:srgbClr val="764BA2"/>
                </a:solidFill>
                <a:latin typeface="Arial"/>
              </a:rPr>
              <a:t>색채를</a:t>
            </a:r>
            <a:r>
              <a:rPr sz="2800" dirty="0">
                <a:solidFill>
                  <a:srgbClr val="764BA2"/>
                </a:solidFill>
                <a:latin typeface="Arial"/>
              </a:rPr>
              <a:t> </a:t>
            </a:r>
            <a:r>
              <a:rPr sz="2800" dirty="0" err="1">
                <a:solidFill>
                  <a:srgbClr val="764BA2"/>
                </a:solidFill>
                <a:latin typeface="Arial"/>
              </a:rPr>
              <a:t>통해</a:t>
            </a:r>
            <a:r>
              <a:rPr sz="2800" dirty="0">
                <a:solidFill>
                  <a:srgbClr val="764BA2"/>
                </a:solidFill>
                <a:latin typeface="Arial"/>
              </a:rPr>
              <a:t> </a:t>
            </a:r>
            <a:r>
              <a:rPr sz="2800" dirty="0" err="1">
                <a:solidFill>
                  <a:srgbClr val="764BA2"/>
                </a:solidFill>
                <a:latin typeface="Arial"/>
              </a:rPr>
              <a:t>나를</a:t>
            </a:r>
            <a:r>
              <a:rPr sz="2800" dirty="0">
                <a:solidFill>
                  <a:srgbClr val="764BA2"/>
                </a:solidFill>
                <a:latin typeface="Arial"/>
              </a:rPr>
              <a:t> </a:t>
            </a:r>
            <a:r>
              <a:rPr sz="2800" dirty="0" err="1">
                <a:solidFill>
                  <a:srgbClr val="764BA2"/>
                </a:solidFill>
                <a:latin typeface="Arial"/>
              </a:rPr>
              <a:t>이해하는</a:t>
            </a:r>
            <a:r>
              <a:rPr sz="2800" dirty="0">
                <a:solidFill>
                  <a:srgbClr val="764BA2"/>
                </a:solidFill>
                <a:latin typeface="Arial"/>
              </a:rPr>
              <a:t> </a:t>
            </a:r>
            <a:r>
              <a:rPr sz="2800" dirty="0" err="1">
                <a:solidFill>
                  <a:srgbClr val="764BA2"/>
                </a:solidFill>
                <a:latin typeface="Arial"/>
              </a:rPr>
              <a:t>감정</a:t>
            </a:r>
            <a:r>
              <a:rPr sz="2800" dirty="0">
                <a:solidFill>
                  <a:srgbClr val="764BA2"/>
                </a:solidFill>
                <a:latin typeface="Arial"/>
              </a:rPr>
              <a:t> </a:t>
            </a:r>
            <a:r>
              <a:rPr sz="2800" dirty="0" err="1">
                <a:solidFill>
                  <a:srgbClr val="764BA2"/>
                </a:solidFill>
                <a:latin typeface="Arial"/>
              </a:rPr>
              <a:t>리플렉션</a:t>
            </a:r>
            <a:r>
              <a:rPr sz="2800" dirty="0">
                <a:solidFill>
                  <a:srgbClr val="764BA2"/>
                </a:solidFill>
                <a:latin typeface="Arial"/>
              </a:rPr>
              <a:t> </a:t>
            </a:r>
            <a:r>
              <a:rPr sz="2800" dirty="0" err="1">
                <a:solidFill>
                  <a:srgbClr val="764BA2"/>
                </a:solidFill>
                <a:latin typeface="Arial"/>
              </a:rPr>
              <a:t>도구</a:t>
            </a:r>
            <a:endParaRPr sz="2800" dirty="0">
              <a:solidFill>
                <a:srgbClr val="764BA2"/>
              </a:solidFill>
              <a:latin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828800" y="25603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666666"/>
                </a:solidFill>
                <a:latin typeface="Arial"/>
              </a:rPr>
              <a:t>33색 팔레트로 기록하는 나의 감정 여정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3365262"/>
            <a:ext cx="4572000" cy="943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</a:pPr>
            <a:r>
              <a:rPr sz="1400" dirty="0">
                <a:solidFill>
                  <a:srgbClr val="444444"/>
                </a:solidFill>
                <a:latin typeface="Arial"/>
              </a:rPr>
              <a:t>👥 </a:t>
            </a:r>
            <a:r>
              <a:rPr sz="1400" dirty="0" err="1">
                <a:solidFill>
                  <a:srgbClr val="444444"/>
                </a:solidFill>
                <a:latin typeface="Arial"/>
              </a:rPr>
              <a:t>팀원</a:t>
            </a:r>
            <a:r>
              <a:rPr sz="1400" dirty="0">
                <a:solidFill>
                  <a:srgbClr val="444444"/>
                </a:solidFill>
                <a:latin typeface="Arial"/>
              </a:rPr>
              <a:t>: 5명 (PM, </a:t>
            </a:r>
            <a:r>
              <a:rPr sz="1400" dirty="0" err="1">
                <a:solidFill>
                  <a:srgbClr val="444444"/>
                </a:solidFill>
                <a:latin typeface="Arial"/>
              </a:rPr>
              <a:t>디자이너</a:t>
            </a:r>
            <a:r>
              <a:rPr sz="1400" dirty="0">
                <a:solidFill>
                  <a:srgbClr val="444444"/>
                </a:solidFill>
                <a:latin typeface="Arial"/>
              </a:rPr>
              <a:t>, </a:t>
            </a:r>
            <a:r>
              <a:rPr sz="1400" dirty="0" err="1">
                <a:solidFill>
                  <a:srgbClr val="444444"/>
                </a:solidFill>
                <a:latin typeface="Arial"/>
              </a:rPr>
              <a:t>개발자</a:t>
            </a:r>
            <a:r>
              <a:rPr sz="1400" dirty="0">
                <a:solidFill>
                  <a:srgbClr val="444444"/>
                </a:solidFill>
                <a:latin typeface="Arial"/>
              </a:rPr>
              <a:t>, AI/</a:t>
            </a:r>
            <a:r>
              <a:rPr sz="1400" dirty="0" err="1">
                <a:solidFill>
                  <a:srgbClr val="444444"/>
                </a:solidFill>
                <a:latin typeface="Arial"/>
              </a:rPr>
              <a:t>데이터</a:t>
            </a:r>
            <a:r>
              <a:rPr sz="1400" dirty="0">
                <a:solidFill>
                  <a:srgbClr val="444444"/>
                </a:solidFill>
                <a:latin typeface="Arial"/>
              </a:rPr>
              <a:t>, </a:t>
            </a:r>
            <a:r>
              <a:rPr sz="1400" dirty="0" err="1">
                <a:solidFill>
                  <a:srgbClr val="444444"/>
                </a:solidFill>
                <a:latin typeface="Arial"/>
              </a:rPr>
              <a:t>발표</a:t>
            </a:r>
            <a:r>
              <a:rPr sz="1400" dirty="0">
                <a:solidFill>
                  <a:srgbClr val="444444"/>
                </a:solidFill>
                <a:latin typeface="Arial"/>
              </a:rPr>
              <a:t>)</a:t>
            </a:r>
          </a:p>
          <a:p>
            <a:pPr algn="ctr">
              <a:spcBef>
                <a:spcPts val="800"/>
              </a:spcBef>
            </a:pPr>
            <a:r>
              <a:rPr sz="1400" dirty="0">
                <a:solidFill>
                  <a:srgbClr val="444444"/>
                </a:solidFill>
                <a:latin typeface="Arial"/>
              </a:rPr>
              <a:t>⏱️ </a:t>
            </a:r>
            <a:r>
              <a:rPr sz="1400" dirty="0" err="1">
                <a:solidFill>
                  <a:srgbClr val="444444"/>
                </a:solidFill>
                <a:latin typeface="Arial"/>
              </a:rPr>
              <a:t>개발</a:t>
            </a:r>
            <a:r>
              <a:rPr sz="1400" dirty="0">
                <a:solidFill>
                  <a:srgbClr val="444444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444444"/>
                </a:solidFill>
                <a:latin typeface="Arial"/>
              </a:rPr>
              <a:t>기간</a:t>
            </a:r>
            <a:r>
              <a:rPr sz="1400" dirty="0">
                <a:solidFill>
                  <a:srgbClr val="444444"/>
                </a:solidFill>
                <a:latin typeface="Arial"/>
              </a:rPr>
              <a:t>: 1주 MVP </a:t>
            </a:r>
            <a:r>
              <a:rPr sz="1400" dirty="0" err="1">
                <a:solidFill>
                  <a:srgbClr val="444444"/>
                </a:solidFill>
                <a:latin typeface="Arial"/>
              </a:rPr>
              <a:t>집중</a:t>
            </a:r>
            <a:r>
              <a:rPr sz="1400" dirty="0">
                <a:solidFill>
                  <a:srgbClr val="444444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444444"/>
                </a:solidFill>
                <a:latin typeface="Arial"/>
              </a:rPr>
              <a:t>개발</a:t>
            </a:r>
            <a:endParaRPr sz="1400" dirty="0">
              <a:solidFill>
                <a:srgbClr val="444444"/>
              </a:solidFill>
              <a:latin typeface="Arial"/>
            </a:endParaRPr>
          </a:p>
          <a:p>
            <a:pPr algn="ctr">
              <a:spcBef>
                <a:spcPts val="800"/>
              </a:spcBef>
            </a:pPr>
            <a:r>
              <a:rPr sz="1400" dirty="0">
                <a:solidFill>
                  <a:srgbClr val="444444"/>
                </a:solidFill>
                <a:latin typeface="Arial"/>
              </a:rPr>
              <a:t>🎯 </a:t>
            </a:r>
            <a:r>
              <a:rPr sz="1400" dirty="0" err="1">
                <a:solidFill>
                  <a:srgbClr val="444444"/>
                </a:solidFill>
                <a:latin typeface="Arial"/>
              </a:rPr>
              <a:t>목표</a:t>
            </a:r>
            <a:r>
              <a:rPr sz="1400" dirty="0">
                <a:solidFill>
                  <a:srgbClr val="444444"/>
                </a:solidFill>
                <a:latin typeface="Arial"/>
              </a:rPr>
              <a:t>: </a:t>
            </a:r>
            <a:r>
              <a:rPr sz="1400" dirty="0" err="1">
                <a:solidFill>
                  <a:srgbClr val="444444"/>
                </a:solidFill>
                <a:latin typeface="Arial"/>
              </a:rPr>
              <a:t>컬러</a:t>
            </a:r>
            <a:r>
              <a:rPr sz="1400" dirty="0">
                <a:solidFill>
                  <a:srgbClr val="444444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444444"/>
                </a:solidFill>
                <a:latin typeface="Arial"/>
              </a:rPr>
              <a:t>기반</a:t>
            </a:r>
            <a:r>
              <a:rPr sz="1400" dirty="0">
                <a:solidFill>
                  <a:srgbClr val="444444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444444"/>
                </a:solidFill>
                <a:latin typeface="Arial"/>
              </a:rPr>
              <a:t>감정</a:t>
            </a:r>
            <a:r>
              <a:rPr sz="1400" dirty="0">
                <a:solidFill>
                  <a:srgbClr val="444444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444444"/>
                </a:solidFill>
                <a:latin typeface="Arial"/>
              </a:rPr>
              <a:t>트래킹</a:t>
            </a:r>
            <a:r>
              <a:rPr sz="1400" dirty="0">
                <a:solidFill>
                  <a:srgbClr val="444444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444444"/>
                </a:solidFill>
                <a:latin typeface="Arial"/>
              </a:rPr>
              <a:t>앱</a:t>
            </a:r>
            <a:r>
              <a:rPr sz="1400" dirty="0">
                <a:solidFill>
                  <a:srgbClr val="444444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444444"/>
                </a:solidFill>
                <a:latin typeface="Arial"/>
              </a:rPr>
              <a:t>완성</a:t>
            </a:r>
            <a:endParaRPr sz="1400" dirty="0">
              <a:solidFill>
                <a:srgbClr val="444444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FFFFFF">
                  <a:lumMod val="5000"/>
                  <a:lumOff val="95000"/>
                </a:srgbClr>
              </a:gs>
              <a:gs pos="100000">
                <a:srgbClr val="FFF8FB">
                  <a:lumMod val="10000"/>
                  <a:lumOff val="90000"/>
                </a:srgbClr>
              </a:gs>
            </a:gsLst>
            <a:lin ang="189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82880" y="182880"/>
            <a:ext cx="1371600" cy="4572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667EEA"/>
                </a:solidFill>
                <a:latin typeface="Arial"/>
              </a:rPr>
              <a:t>감정을 기록하고 표현하는 어려움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37160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dirty="0" err="1">
                <a:solidFill>
                  <a:srgbClr val="764BA2"/>
                </a:solidFill>
                <a:latin typeface="Arial"/>
              </a:rPr>
              <a:t>현재의</a:t>
            </a:r>
            <a:r>
              <a:rPr sz="2200" dirty="0">
                <a:solidFill>
                  <a:srgbClr val="764BA2"/>
                </a:solidFill>
                <a:latin typeface="Arial"/>
              </a:rPr>
              <a:t> </a:t>
            </a:r>
            <a:r>
              <a:rPr sz="2200" dirty="0" err="1">
                <a:solidFill>
                  <a:srgbClr val="764BA2"/>
                </a:solidFill>
                <a:latin typeface="Arial"/>
              </a:rPr>
              <a:t>문제점</a:t>
            </a:r>
            <a:endParaRPr sz="2200" dirty="0">
              <a:solidFill>
                <a:srgbClr val="764BA2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371600" y="1863864"/>
            <a:ext cx="6400800" cy="1415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400" dirty="0">
                <a:solidFill>
                  <a:srgbClr val="333333"/>
                </a:solidFill>
                <a:latin typeface="Arial"/>
              </a:rPr>
              <a:t>💭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단순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텍스트로는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표현하기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어려운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복잡한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감정의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기록</a:t>
            </a:r>
            <a:endParaRPr sz="1400" dirty="0">
              <a:solidFill>
                <a:srgbClr val="333333"/>
              </a:solidFill>
              <a:latin typeface="Arial"/>
            </a:endParaRPr>
          </a:p>
          <a:p>
            <a:pPr>
              <a:spcBef>
                <a:spcPts val="1200"/>
              </a:spcBef>
            </a:pPr>
            <a:r>
              <a:rPr sz="1400" dirty="0">
                <a:solidFill>
                  <a:srgbClr val="333333"/>
                </a:solidFill>
                <a:latin typeface="Arial"/>
              </a:rPr>
              <a:t>📊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감정의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변화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패턴을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체계적으로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파악하기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어려움</a:t>
            </a:r>
            <a:endParaRPr sz="1400" dirty="0">
              <a:solidFill>
                <a:srgbClr val="333333"/>
              </a:solidFill>
              <a:latin typeface="Arial"/>
            </a:endParaRPr>
          </a:p>
          <a:p>
            <a:pPr>
              <a:spcBef>
                <a:spcPts val="1200"/>
              </a:spcBef>
            </a:pPr>
            <a:r>
              <a:rPr sz="1400" dirty="0">
                <a:solidFill>
                  <a:srgbClr val="333333"/>
                </a:solidFill>
                <a:latin typeface="Arial"/>
              </a:rPr>
              <a:t>💔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감정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기록의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지속성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부족으로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중단되는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경우가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많음</a:t>
            </a:r>
            <a:endParaRPr sz="1400" dirty="0">
              <a:solidFill>
                <a:srgbClr val="333333"/>
              </a:solidFill>
              <a:latin typeface="Arial"/>
            </a:endParaRPr>
          </a:p>
          <a:p>
            <a:pPr>
              <a:spcBef>
                <a:spcPts val="1200"/>
              </a:spcBef>
            </a:pPr>
            <a:r>
              <a:rPr sz="1400" dirty="0">
                <a:solidFill>
                  <a:srgbClr val="333333"/>
                </a:solidFill>
                <a:latin typeface="Arial"/>
              </a:rPr>
              <a:t>🎨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자신의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감정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상태를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시각적으로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인식하고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공유할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수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있는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도구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부족</a:t>
            </a:r>
            <a:endParaRPr sz="1400"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371600" y="3749039"/>
            <a:ext cx="6400800" cy="964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dirty="0" err="1">
                <a:solidFill>
                  <a:srgbClr val="667EEA"/>
                </a:solidFill>
              </a:rPr>
              <a:t>타겟</a:t>
            </a:r>
            <a:r>
              <a:rPr sz="2200" b="1" dirty="0">
                <a:solidFill>
                  <a:srgbClr val="667EEA"/>
                </a:solidFill>
              </a:rPr>
              <a:t> </a:t>
            </a:r>
            <a:r>
              <a:rPr sz="2200" b="1" dirty="0" err="1">
                <a:solidFill>
                  <a:srgbClr val="667EEA"/>
                </a:solidFill>
              </a:rPr>
              <a:t>사용자</a:t>
            </a:r>
            <a:endParaRPr sz="2200" b="1" dirty="0">
              <a:solidFill>
                <a:srgbClr val="667EEA"/>
              </a:solidFill>
            </a:endParaRPr>
          </a:p>
          <a:p>
            <a:pPr>
              <a:spcBef>
                <a:spcPts val="800"/>
              </a:spcBef>
            </a:pPr>
            <a:r>
              <a:rPr sz="1400" dirty="0" err="1">
                <a:solidFill>
                  <a:srgbClr val="444444"/>
                </a:solidFill>
              </a:rPr>
              <a:t>감정을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기록하고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싶은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모든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사람</a:t>
            </a:r>
            <a:r>
              <a:rPr sz="1400" dirty="0">
                <a:solidFill>
                  <a:srgbClr val="444444"/>
                </a:solidFill>
              </a:rPr>
              <a:t>, </a:t>
            </a:r>
            <a:r>
              <a:rPr sz="1400" dirty="0" err="1">
                <a:solidFill>
                  <a:srgbClr val="444444"/>
                </a:solidFill>
              </a:rPr>
              <a:t>자기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이해를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원하는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사람</a:t>
            </a:r>
            <a:r>
              <a:rPr sz="1400" dirty="0">
                <a:solidFill>
                  <a:srgbClr val="444444"/>
                </a:solidFill>
              </a:rPr>
              <a:t>, </a:t>
            </a:r>
            <a:r>
              <a:rPr sz="1400" dirty="0" err="1">
                <a:solidFill>
                  <a:srgbClr val="444444"/>
                </a:solidFill>
              </a:rPr>
              <a:t>감정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패턴을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발견하고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싶은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사람</a:t>
            </a:r>
            <a:endParaRPr sz="1400" dirty="0">
              <a:solidFill>
                <a:srgbClr val="444444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FFFFFF">
                  <a:lumMod val="5000"/>
                  <a:lumOff val="95000"/>
                </a:srgbClr>
              </a:gs>
              <a:gs pos="100000">
                <a:srgbClr val="F8F9FF">
                  <a:lumMod val="10000"/>
                  <a:lumOff val="90000"/>
                </a:srgbClr>
              </a:gs>
            </a:gsLst>
            <a:lin ang="189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82880" y="182880"/>
            <a:ext cx="1371600" cy="4572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667EEA"/>
                </a:solidFill>
                <a:latin typeface="Arial"/>
              </a:rPr>
              <a:t>Mind Palette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221671"/>
            <a:ext cx="6400800" cy="430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dirty="0" err="1">
                <a:solidFill>
                  <a:srgbClr val="764BA2"/>
                </a:solidFill>
                <a:latin typeface="Arial"/>
              </a:rPr>
              <a:t>컬러</a:t>
            </a:r>
            <a:r>
              <a:rPr sz="2200" dirty="0">
                <a:solidFill>
                  <a:srgbClr val="764BA2"/>
                </a:solidFill>
                <a:latin typeface="Arial"/>
              </a:rPr>
              <a:t> </a:t>
            </a:r>
            <a:r>
              <a:rPr sz="2200" dirty="0" err="1">
                <a:solidFill>
                  <a:srgbClr val="764BA2"/>
                </a:solidFill>
                <a:latin typeface="Arial"/>
              </a:rPr>
              <a:t>기반</a:t>
            </a:r>
            <a:r>
              <a:rPr sz="2200" dirty="0">
                <a:solidFill>
                  <a:srgbClr val="764BA2"/>
                </a:solidFill>
                <a:latin typeface="Arial"/>
              </a:rPr>
              <a:t> </a:t>
            </a:r>
            <a:r>
              <a:rPr sz="2200" dirty="0" err="1">
                <a:solidFill>
                  <a:srgbClr val="764BA2"/>
                </a:solidFill>
                <a:latin typeface="Arial"/>
              </a:rPr>
              <a:t>감정</a:t>
            </a:r>
            <a:r>
              <a:rPr sz="2200" dirty="0">
                <a:solidFill>
                  <a:srgbClr val="764BA2"/>
                </a:solidFill>
                <a:latin typeface="Arial"/>
              </a:rPr>
              <a:t> </a:t>
            </a:r>
            <a:r>
              <a:rPr sz="2200" dirty="0" err="1">
                <a:solidFill>
                  <a:srgbClr val="764BA2"/>
                </a:solidFill>
                <a:latin typeface="Arial"/>
              </a:rPr>
              <a:t>트래킹</a:t>
            </a:r>
            <a:r>
              <a:rPr sz="2200" dirty="0">
                <a:solidFill>
                  <a:srgbClr val="764BA2"/>
                </a:solidFill>
                <a:latin typeface="Arial"/>
              </a:rPr>
              <a:t> </a:t>
            </a:r>
            <a:r>
              <a:rPr sz="2200" dirty="0" err="1">
                <a:solidFill>
                  <a:srgbClr val="764BA2"/>
                </a:solidFill>
                <a:latin typeface="Arial"/>
              </a:rPr>
              <a:t>솔루션</a:t>
            </a:r>
            <a:endParaRPr sz="2200" dirty="0">
              <a:solidFill>
                <a:srgbClr val="764BA2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371600" y="1645920"/>
            <a:ext cx="6400800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400" dirty="0">
                <a:solidFill>
                  <a:srgbClr val="333333"/>
                </a:solidFill>
                <a:latin typeface="Arial"/>
              </a:rPr>
              <a:t>🎨 33색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팔레트로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직관적인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감정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표현</a:t>
            </a:r>
            <a:endParaRPr sz="1400" dirty="0">
              <a:solidFill>
                <a:srgbClr val="333333"/>
              </a:solidFill>
              <a:latin typeface="Arial"/>
            </a:endParaRPr>
          </a:p>
          <a:p>
            <a:pPr>
              <a:spcBef>
                <a:spcPts val="1200"/>
              </a:spcBef>
            </a:pPr>
            <a:r>
              <a:rPr sz="1400" dirty="0">
                <a:solidFill>
                  <a:srgbClr val="333333"/>
                </a:solidFill>
                <a:latin typeface="Arial"/>
              </a:rPr>
              <a:t>📅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캘린더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뷰로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시간에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따른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감정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패턴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시각화</a:t>
            </a:r>
            <a:endParaRPr sz="1400" dirty="0">
              <a:solidFill>
                <a:srgbClr val="333333"/>
              </a:solidFill>
              <a:latin typeface="Arial"/>
            </a:endParaRPr>
          </a:p>
          <a:p>
            <a:pPr>
              <a:spcBef>
                <a:spcPts val="1200"/>
              </a:spcBef>
            </a:pPr>
            <a:r>
              <a:rPr sz="1400" dirty="0">
                <a:solidFill>
                  <a:srgbClr val="333333"/>
                </a:solidFill>
                <a:latin typeface="Arial"/>
              </a:rPr>
              <a:t>📊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기간별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감정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분석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및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인사이트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제공</a:t>
            </a:r>
            <a:endParaRPr sz="1400" dirty="0">
              <a:solidFill>
                <a:srgbClr val="333333"/>
              </a:solidFill>
              <a:latin typeface="Arial"/>
            </a:endParaRPr>
          </a:p>
          <a:p>
            <a:pPr>
              <a:spcBef>
                <a:spcPts val="1200"/>
              </a:spcBef>
            </a:pPr>
            <a:r>
              <a:rPr sz="1400" dirty="0">
                <a:solidFill>
                  <a:srgbClr val="333333"/>
                </a:solidFill>
                <a:latin typeface="Arial"/>
              </a:rPr>
              <a:t>💾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LocalStorage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기반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안전한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데이터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저장</a:t>
            </a:r>
            <a:endParaRPr sz="1400" dirty="0">
              <a:solidFill>
                <a:srgbClr val="333333"/>
              </a:solidFill>
              <a:latin typeface="Arial"/>
            </a:endParaRPr>
          </a:p>
          <a:p>
            <a:pPr>
              <a:spcBef>
                <a:spcPts val="1200"/>
              </a:spcBef>
            </a:pPr>
            <a:r>
              <a:rPr sz="1400" dirty="0">
                <a:solidFill>
                  <a:srgbClr val="333333"/>
                </a:solidFill>
                <a:latin typeface="Arial"/>
              </a:rPr>
              <a:t>📸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공유용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감정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팔레트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이미지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자동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생성</a:t>
            </a:r>
            <a:endParaRPr sz="1400"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371600" y="3474720"/>
            <a:ext cx="6400800" cy="1308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dirty="0" err="1">
                <a:solidFill>
                  <a:srgbClr val="667EEA"/>
                </a:solidFill>
              </a:rPr>
              <a:t>핵심</a:t>
            </a:r>
            <a:r>
              <a:rPr sz="2200" b="1" dirty="0">
                <a:solidFill>
                  <a:srgbClr val="667EEA"/>
                </a:solidFill>
              </a:rPr>
              <a:t> </a:t>
            </a:r>
            <a:r>
              <a:rPr sz="2200" b="1" dirty="0" err="1">
                <a:solidFill>
                  <a:srgbClr val="667EEA"/>
                </a:solidFill>
              </a:rPr>
              <a:t>가치</a:t>
            </a:r>
            <a:endParaRPr sz="2200" b="1" dirty="0">
              <a:solidFill>
                <a:srgbClr val="667EEA"/>
              </a:solidFill>
            </a:endParaRPr>
          </a:p>
          <a:p>
            <a:pPr>
              <a:spcBef>
                <a:spcPts val="600"/>
              </a:spcBef>
            </a:pPr>
            <a:r>
              <a:rPr sz="1400" dirty="0">
                <a:solidFill>
                  <a:srgbClr val="444444"/>
                </a:solidFill>
              </a:rPr>
              <a:t>✨ </a:t>
            </a:r>
            <a:r>
              <a:rPr sz="1400" dirty="0" err="1">
                <a:solidFill>
                  <a:srgbClr val="444444"/>
                </a:solidFill>
              </a:rPr>
              <a:t>색상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선택만으로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쉽고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빠른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감정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기록</a:t>
            </a:r>
            <a:endParaRPr sz="1400" dirty="0">
              <a:solidFill>
                <a:srgbClr val="444444"/>
              </a:solidFill>
            </a:endParaRPr>
          </a:p>
          <a:p>
            <a:pPr>
              <a:spcBef>
                <a:spcPts val="600"/>
              </a:spcBef>
            </a:pPr>
            <a:r>
              <a:rPr sz="1400" dirty="0">
                <a:solidFill>
                  <a:srgbClr val="444444"/>
                </a:solidFill>
              </a:rPr>
              <a:t>🎯 </a:t>
            </a:r>
            <a:r>
              <a:rPr sz="1400" dirty="0" err="1">
                <a:solidFill>
                  <a:srgbClr val="444444"/>
                </a:solidFill>
              </a:rPr>
              <a:t>개인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맞춤형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감정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팔레트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생성</a:t>
            </a:r>
            <a:endParaRPr sz="1400" dirty="0">
              <a:solidFill>
                <a:srgbClr val="444444"/>
              </a:solidFill>
            </a:endParaRPr>
          </a:p>
          <a:p>
            <a:pPr>
              <a:spcBef>
                <a:spcPts val="600"/>
              </a:spcBef>
            </a:pPr>
            <a:r>
              <a:rPr sz="1400" dirty="0">
                <a:solidFill>
                  <a:srgbClr val="444444"/>
                </a:solidFill>
              </a:rPr>
              <a:t>🔒 </a:t>
            </a:r>
            <a:r>
              <a:rPr sz="1400" dirty="0" err="1">
                <a:solidFill>
                  <a:srgbClr val="444444"/>
                </a:solidFill>
              </a:rPr>
              <a:t>로컬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저장으로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개인정보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보호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완벽</a:t>
            </a:r>
            <a:endParaRPr sz="1400" dirty="0">
              <a:solidFill>
                <a:srgbClr val="444444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75501"/>
            <a:ext cx="9144000" cy="5143500"/>
          </a:xfrm>
          <a:prstGeom prst="rect">
            <a:avLst/>
          </a:prstGeom>
          <a:gradFill rotWithShape="1">
            <a:gsLst>
              <a:gs pos="0">
                <a:srgbClr val="FFFFFF">
                  <a:lumMod val="5000"/>
                  <a:lumOff val="95000"/>
                </a:srgbClr>
              </a:gs>
              <a:gs pos="100000">
                <a:srgbClr val="FFF8FB">
                  <a:lumMod val="10000"/>
                  <a:lumOff val="90000"/>
                </a:srgbClr>
              </a:gs>
            </a:gsLst>
            <a:lin ang="189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82880" y="182880"/>
            <a:ext cx="1371600" cy="4572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667EEA"/>
                </a:solidFill>
                <a:latin typeface="Arial"/>
              </a:rPr>
              <a:t>Mind Palette 사용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23444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dirty="0" err="1">
                <a:solidFill>
                  <a:srgbClr val="764BA2"/>
                </a:solidFill>
                <a:latin typeface="Arial"/>
              </a:rPr>
              <a:t>일기</a:t>
            </a:r>
            <a:r>
              <a:rPr sz="2200" dirty="0">
                <a:solidFill>
                  <a:srgbClr val="764BA2"/>
                </a:solidFill>
                <a:latin typeface="Arial"/>
              </a:rPr>
              <a:t> </a:t>
            </a:r>
            <a:r>
              <a:rPr sz="2200" dirty="0" err="1">
                <a:solidFill>
                  <a:srgbClr val="764BA2"/>
                </a:solidFill>
                <a:latin typeface="Arial"/>
              </a:rPr>
              <a:t>작성</a:t>
            </a:r>
            <a:r>
              <a:rPr sz="2200" dirty="0">
                <a:solidFill>
                  <a:srgbClr val="764BA2"/>
                </a:solidFill>
                <a:latin typeface="Arial"/>
              </a:rPr>
              <a:t> </a:t>
            </a:r>
            <a:r>
              <a:rPr sz="2200" dirty="0" err="1">
                <a:solidFill>
                  <a:srgbClr val="764BA2"/>
                </a:solidFill>
                <a:latin typeface="Arial"/>
              </a:rPr>
              <a:t>프로세스</a:t>
            </a:r>
            <a:endParaRPr sz="2200" dirty="0">
              <a:solidFill>
                <a:srgbClr val="764BA2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371600" y="1645920"/>
            <a:ext cx="6400800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400" dirty="0">
                <a:solidFill>
                  <a:srgbClr val="333333"/>
                </a:solidFill>
                <a:latin typeface="Arial"/>
              </a:rPr>
              <a:t>1️⃣ 33색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팔레트에서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지금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가장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끌리는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컬러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선택</a:t>
            </a:r>
            <a:endParaRPr sz="1400" dirty="0">
              <a:solidFill>
                <a:srgbClr val="333333"/>
              </a:solidFill>
              <a:latin typeface="Arial"/>
            </a:endParaRPr>
          </a:p>
          <a:p>
            <a:pPr>
              <a:spcBef>
                <a:spcPts val="1200"/>
              </a:spcBef>
            </a:pPr>
            <a:r>
              <a:rPr sz="1400" dirty="0">
                <a:solidFill>
                  <a:srgbClr val="333333"/>
                </a:solidFill>
                <a:latin typeface="Arial"/>
              </a:rPr>
              <a:t>2️⃣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감정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선택</a:t>
            </a:r>
            <a:r>
              <a:rPr sz="1400" dirty="0">
                <a:solidFill>
                  <a:srgbClr val="333333"/>
                </a:solidFill>
                <a:latin typeface="Arial"/>
              </a:rPr>
              <a:t> (21가지) +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강도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조절</a:t>
            </a:r>
            <a:r>
              <a:rPr sz="1400" dirty="0">
                <a:solidFill>
                  <a:srgbClr val="333333"/>
                </a:solidFill>
                <a:latin typeface="Arial"/>
              </a:rPr>
              <a:t> (1-5)</a:t>
            </a:r>
          </a:p>
          <a:p>
            <a:pPr>
              <a:spcBef>
                <a:spcPts val="1200"/>
              </a:spcBef>
            </a:pPr>
            <a:r>
              <a:rPr sz="1400" dirty="0">
                <a:solidFill>
                  <a:srgbClr val="333333"/>
                </a:solidFill>
                <a:latin typeface="Arial"/>
              </a:rPr>
              <a:t>3️⃣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오늘의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에피소드를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자유롭게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기록</a:t>
            </a:r>
            <a:endParaRPr sz="1400" dirty="0">
              <a:solidFill>
                <a:srgbClr val="333333"/>
              </a:solidFill>
              <a:latin typeface="Arial"/>
            </a:endParaRPr>
          </a:p>
          <a:p>
            <a:pPr>
              <a:spcBef>
                <a:spcPts val="1200"/>
              </a:spcBef>
            </a:pPr>
            <a:r>
              <a:rPr sz="1400" dirty="0">
                <a:solidFill>
                  <a:srgbClr val="333333"/>
                </a:solidFill>
                <a:latin typeface="Arial"/>
              </a:rPr>
              <a:t>4️⃣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날씨와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날씨에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대한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느낌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선택</a:t>
            </a:r>
            <a:endParaRPr sz="1400" dirty="0">
              <a:solidFill>
                <a:srgbClr val="333333"/>
              </a:solidFill>
              <a:latin typeface="Arial"/>
            </a:endParaRPr>
          </a:p>
          <a:p>
            <a:pPr>
              <a:spcBef>
                <a:spcPts val="1200"/>
              </a:spcBef>
            </a:pPr>
            <a:r>
              <a:rPr sz="1400" dirty="0">
                <a:solidFill>
                  <a:srgbClr val="333333"/>
                </a:solidFill>
                <a:latin typeface="Arial"/>
              </a:rPr>
              <a:t>5️⃣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저장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후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캘린더에서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색상으로</a:t>
            </a:r>
            <a:r>
              <a:rPr sz="1400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Arial"/>
              </a:rPr>
              <a:t>확인</a:t>
            </a:r>
            <a:endParaRPr sz="1400"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371600" y="3474720"/>
            <a:ext cx="6400800" cy="1308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dirty="0" err="1">
                <a:solidFill>
                  <a:srgbClr val="667EEA"/>
                </a:solidFill>
              </a:rPr>
              <a:t>추가</a:t>
            </a:r>
            <a:r>
              <a:rPr sz="2200" b="1" dirty="0">
                <a:solidFill>
                  <a:srgbClr val="667EEA"/>
                </a:solidFill>
              </a:rPr>
              <a:t> </a:t>
            </a:r>
            <a:r>
              <a:rPr sz="2200" b="1" dirty="0" err="1">
                <a:solidFill>
                  <a:srgbClr val="667EEA"/>
                </a:solidFill>
              </a:rPr>
              <a:t>기능</a:t>
            </a:r>
            <a:endParaRPr sz="2200" b="1" dirty="0">
              <a:solidFill>
                <a:srgbClr val="667EEA"/>
              </a:solidFill>
            </a:endParaRPr>
          </a:p>
          <a:p>
            <a:pPr>
              <a:spcBef>
                <a:spcPts val="600"/>
              </a:spcBef>
            </a:pPr>
            <a:r>
              <a:rPr sz="1400" dirty="0">
                <a:solidFill>
                  <a:srgbClr val="444444"/>
                </a:solidFill>
              </a:rPr>
              <a:t>📊 </a:t>
            </a:r>
            <a:r>
              <a:rPr sz="1400" dirty="0" err="1">
                <a:solidFill>
                  <a:srgbClr val="444444"/>
                </a:solidFill>
              </a:rPr>
              <a:t>감정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분석</a:t>
            </a:r>
            <a:r>
              <a:rPr sz="1400" dirty="0">
                <a:solidFill>
                  <a:srgbClr val="444444"/>
                </a:solidFill>
              </a:rPr>
              <a:t>: 1주/1개월/3개월 </a:t>
            </a:r>
            <a:r>
              <a:rPr sz="1400" dirty="0" err="1">
                <a:solidFill>
                  <a:srgbClr val="444444"/>
                </a:solidFill>
              </a:rPr>
              <a:t>단위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감정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패턴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분석</a:t>
            </a:r>
            <a:endParaRPr sz="1400" dirty="0">
              <a:solidFill>
                <a:srgbClr val="444444"/>
              </a:solidFill>
            </a:endParaRPr>
          </a:p>
          <a:p>
            <a:pPr>
              <a:spcBef>
                <a:spcPts val="600"/>
              </a:spcBef>
            </a:pPr>
            <a:r>
              <a:rPr sz="1400" dirty="0">
                <a:solidFill>
                  <a:srgbClr val="444444"/>
                </a:solidFill>
              </a:rPr>
              <a:t>📸 </a:t>
            </a:r>
            <a:r>
              <a:rPr sz="1400" dirty="0" err="1">
                <a:solidFill>
                  <a:srgbClr val="444444"/>
                </a:solidFill>
              </a:rPr>
              <a:t>공유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이미지</a:t>
            </a:r>
            <a:r>
              <a:rPr sz="1400" dirty="0">
                <a:solidFill>
                  <a:srgbClr val="444444"/>
                </a:solidFill>
              </a:rPr>
              <a:t>: </a:t>
            </a:r>
            <a:r>
              <a:rPr sz="1400" dirty="0" err="1">
                <a:solidFill>
                  <a:srgbClr val="444444"/>
                </a:solidFill>
              </a:rPr>
              <a:t>월간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감정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팔레트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이미지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자동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생성</a:t>
            </a:r>
            <a:endParaRPr sz="1400" dirty="0">
              <a:solidFill>
                <a:srgbClr val="444444"/>
              </a:solidFill>
            </a:endParaRPr>
          </a:p>
          <a:p>
            <a:pPr>
              <a:spcBef>
                <a:spcPts val="600"/>
              </a:spcBef>
            </a:pPr>
            <a:r>
              <a:rPr sz="1400" dirty="0">
                <a:solidFill>
                  <a:srgbClr val="444444"/>
                </a:solidFill>
              </a:rPr>
              <a:t>💾 </a:t>
            </a:r>
            <a:r>
              <a:rPr sz="1400" dirty="0" err="1">
                <a:solidFill>
                  <a:srgbClr val="444444"/>
                </a:solidFill>
              </a:rPr>
              <a:t>데이터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내보내기</a:t>
            </a:r>
            <a:r>
              <a:rPr sz="1400" dirty="0">
                <a:solidFill>
                  <a:srgbClr val="444444"/>
                </a:solidFill>
              </a:rPr>
              <a:t>: CSV </a:t>
            </a:r>
            <a:r>
              <a:rPr sz="1400" dirty="0" err="1">
                <a:solidFill>
                  <a:srgbClr val="444444"/>
                </a:solidFill>
              </a:rPr>
              <a:t>파일로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전체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데이터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백업</a:t>
            </a:r>
            <a:endParaRPr sz="1400" dirty="0">
              <a:solidFill>
                <a:srgbClr val="444444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FFFFFF">
                  <a:lumMod val="5000"/>
                  <a:lumOff val="95000"/>
                </a:srgbClr>
              </a:gs>
              <a:gs pos="100000">
                <a:srgbClr val="F8F9FF">
                  <a:lumMod val="10000"/>
                  <a:lumOff val="90000"/>
                </a:srgbClr>
              </a:gs>
            </a:gsLst>
            <a:lin ang="189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82880" y="182880"/>
            <a:ext cx="1371600" cy="4572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667EEA"/>
                </a:solidFill>
                <a:latin typeface="Arial"/>
              </a:rPr>
              <a:t>Mind Palette가 만들어내는 가치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3657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dirty="0" err="1">
                <a:solidFill>
                  <a:srgbClr val="667EEA"/>
                </a:solidFill>
              </a:rPr>
              <a:t>사용자</a:t>
            </a:r>
            <a:r>
              <a:rPr sz="2000" b="1" dirty="0">
                <a:solidFill>
                  <a:srgbClr val="667EEA"/>
                </a:solidFill>
              </a:rPr>
              <a:t> </a:t>
            </a:r>
            <a:r>
              <a:rPr sz="2000" b="1" dirty="0" err="1">
                <a:solidFill>
                  <a:srgbClr val="667EEA"/>
                </a:solidFill>
              </a:rPr>
              <a:t>가치</a:t>
            </a:r>
            <a:endParaRPr sz="2000" b="1" dirty="0">
              <a:solidFill>
                <a:srgbClr val="667EEA"/>
              </a:solidFill>
            </a:endParaRPr>
          </a:p>
          <a:p>
            <a:pPr>
              <a:spcBef>
                <a:spcPts val="800"/>
              </a:spcBef>
            </a:pPr>
            <a:r>
              <a:rPr sz="1400" dirty="0">
                <a:solidFill>
                  <a:srgbClr val="444444"/>
                </a:solidFill>
              </a:rPr>
              <a:t>🎨 </a:t>
            </a:r>
            <a:r>
              <a:rPr sz="1400" dirty="0" err="1">
                <a:solidFill>
                  <a:srgbClr val="444444"/>
                </a:solidFill>
              </a:rPr>
              <a:t>직관적인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색상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선택으로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쉬운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감정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기록</a:t>
            </a:r>
            <a:endParaRPr sz="1400" dirty="0">
              <a:solidFill>
                <a:srgbClr val="444444"/>
              </a:solidFill>
            </a:endParaRPr>
          </a:p>
          <a:p>
            <a:pPr>
              <a:spcBef>
                <a:spcPts val="800"/>
              </a:spcBef>
            </a:pPr>
            <a:r>
              <a:rPr sz="1400" dirty="0">
                <a:solidFill>
                  <a:srgbClr val="444444"/>
                </a:solidFill>
              </a:rPr>
              <a:t>📊 </a:t>
            </a:r>
            <a:r>
              <a:rPr sz="1400" dirty="0" err="1">
                <a:solidFill>
                  <a:srgbClr val="444444"/>
                </a:solidFill>
              </a:rPr>
              <a:t>시간에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따른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감정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패턴의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시각적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발견</a:t>
            </a:r>
            <a:endParaRPr sz="1400" dirty="0">
              <a:solidFill>
                <a:srgbClr val="444444"/>
              </a:solidFill>
            </a:endParaRPr>
          </a:p>
          <a:p>
            <a:pPr>
              <a:spcBef>
                <a:spcPts val="800"/>
              </a:spcBef>
            </a:pPr>
            <a:r>
              <a:rPr sz="1400" dirty="0">
                <a:solidFill>
                  <a:srgbClr val="444444"/>
                </a:solidFill>
              </a:rPr>
              <a:t>💭 </a:t>
            </a:r>
            <a:r>
              <a:rPr sz="1400" dirty="0" err="1">
                <a:solidFill>
                  <a:srgbClr val="444444"/>
                </a:solidFill>
              </a:rPr>
              <a:t>자신의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감정에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대한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깊은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이해</a:t>
            </a:r>
            <a:endParaRPr sz="1400" dirty="0">
              <a:solidFill>
                <a:srgbClr val="444444"/>
              </a:solidFill>
            </a:endParaRPr>
          </a:p>
          <a:p>
            <a:pPr>
              <a:spcBef>
                <a:spcPts val="800"/>
              </a:spcBef>
            </a:pPr>
            <a:r>
              <a:rPr sz="1400" dirty="0">
                <a:solidFill>
                  <a:srgbClr val="444444"/>
                </a:solidFill>
              </a:rPr>
              <a:t>📱 </a:t>
            </a:r>
            <a:r>
              <a:rPr sz="1400" dirty="0" err="1">
                <a:solidFill>
                  <a:srgbClr val="444444"/>
                </a:solidFill>
              </a:rPr>
              <a:t>언제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어디서나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간편한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사용</a:t>
            </a:r>
            <a:endParaRPr sz="1400" dirty="0">
              <a:solidFill>
                <a:srgbClr val="444444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754880" y="1188720"/>
            <a:ext cx="3657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dirty="0" err="1">
                <a:solidFill>
                  <a:srgbClr val="764BA2"/>
                </a:solidFill>
              </a:rPr>
              <a:t>기술적</a:t>
            </a:r>
            <a:r>
              <a:rPr sz="2000" b="1" dirty="0">
                <a:solidFill>
                  <a:srgbClr val="764BA2"/>
                </a:solidFill>
              </a:rPr>
              <a:t> </a:t>
            </a:r>
            <a:r>
              <a:rPr sz="2000" b="1" dirty="0" err="1">
                <a:solidFill>
                  <a:srgbClr val="764BA2"/>
                </a:solidFill>
              </a:rPr>
              <a:t>특징</a:t>
            </a:r>
            <a:endParaRPr sz="2000" b="1" dirty="0">
              <a:solidFill>
                <a:srgbClr val="764BA2"/>
              </a:solidFill>
            </a:endParaRPr>
          </a:p>
          <a:p>
            <a:pPr>
              <a:spcBef>
                <a:spcPts val="800"/>
              </a:spcBef>
            </a:pPr>
            <a:r>
              <a:rPr sz="1400" dirty="0">
                <a:solidFill>
                  <a:srgbClr val="444444"/>
                </a:solidFill>
              </a:rPr>
              <a:t>⚡ React + Vite </a:t>
            </a:r>
            <a:r>
              <a:rPr sz="1400" dirty="0" err="1">
                <a:solidFill>
                  <a:srgbClr val="444444"/>
                </a:solidFill>
              </a:rPr>
              <a:t>기반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빠른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로딩</a:t>
            </a:r>
            <a:endParaRPr sz="1400" dirty="0">
              <a:solidFill>
                <a:srgbClr val="444444"/>
              </a:solidFill>
            </a:endParaRPr>
          </a:p>
          <a:p>
            <a:pPr>
              <a:spcBef>
                <a:spcPts val="800"/>
              </a:spcBef>
            </a:pPr>
            <a:r>
              <a:rPr sz="1400" dirty="0">
                <a:solidFill>
                  <a:srgbClr val="444444"/>
                </a:solidFill>
              </a:rPr>
              <a:t>💾 </a:t>
            </a:r>
            <a:r>
              <a:rPr sz="1400" dirty="0" err="1">
                <a:solidFill>
                  <a:srgbClr val="444444"/>
                </a:solidFill>
              </a:rPr>
              <a:t>LocalStorage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완전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오프라인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지원</a:t>
            </a:r>
            <a:endParaRPr sz="1400" dirty="0">
              <a:solidFill>
                <a:srgbClr val="444444"/>
              </a:solidFill>
            </a:endParaRPr>
          </a:p>
          <a:p>
            <a:pPr>
              <a:spcBef>
                <a:spcPts val="800"/>
              </a:spcBef>
            </a:pPr>
            <a:r>
              <a:rPr sz="1400" dirty="0">
                <a:solidFill>
                  <a:srgbClr val="444444"/>
                </a:solidFill>
              </a:rPr>
              <a:t>🎨 </a:t>
            </a:r>
            <a:r>
              <a:rPr sz="1400" dirty="0" err="1">
                <a:solidFill>
                  <a:srgbClr val="444444"/>
                </a:solidFill>
              </a:rPr>
              <a:t>반응형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디자인</a:t>
            </a:r>
            <a:r>
              <a:rPr sz="1400" dirty="0">
                <a:solidFill>
                  <a:srgbClr val="444444"/>
                </a:solidFill>
              </a:rPr>
              <a:t> (</a:t>
            </a:r>
            <a:r>
              <a:rPr sz="1400" dirty="0" err="1">
                <a:solidFill>
                  <a:srgbClr val="444444"/>
                </a:solidFill>
              </a:rPr>
              <a:t>모바일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최적화</a:t>
            </a:r>
            <a:r>
              <a:rPr sz="1400" dirty="0">
                <a:solidFill>
                  <a:srgbClr val="444444"/>
                </a:solidFill>
              </a:rPr>
              <a:t>)</a:t>
            </a:r>
          </a:p>
          <a:p>
            <a:pPr>
              <a:spcBef>
                <a:spcPts val="800"/>
              </a:spcBef>
            </a:pPr>
            <a:r>
              <a:rPr sz="1400" dirty="0">
                <a:solidFill>
                  <a:srgbClr val="444444"/>
                </a:solidFill>
              </a:rPr>
              <a:t>🔒 </a:t>
            </a:r>
            <a:r>
              <a:rPr sz="1400" dirty="0" err="1">
                <a:solidFill>
                  <a:srgbClr val="444444"/>
                </a:solidFill>
              </a:rPr>
              <a:t>개인정보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보호</a:t>
            </a:r>
            <a:r>
              <a:rPr sz="1400" dirty="0">
                <a:solidFill>
                  <a:srgbClr val="444444"/>
                </a:solidFill>
              </a:rPr>
              <a:t> (</a:t>
            </a:r>
            <a:r>
              <a:rPr sz="1400" dirty="0" err="1">
                <a:solidFill>
                  <a:srgbClr val="444444"/>
                </a:solidFill>
              </a:rPr>
              <a:t>서버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전송</a:t>
            </a:r>
            <a:r>
              <a:rPr sz="1400" dirty="0">
                <a:solidFill>
                  <a:srgbClr val="444444"/>
                </a:solidFill>
              </a:rPr>
              <a:t> </a:t>
            </a:r>
            <a:r>
              <a:rPr sz="1400" dirty="0" err="1">
                <a:solidFill>
                  <a:srgbClr val="444444"/>
                </a:solidFill>
              </a:rPr>
              <a:t>없음</a:t>
            </a:r>
            <a:r>
              <a:rPr sz="1400" dirty="0">
                <a:solidFill>
                  <a:srgbClr val="444444"/>
                </a:solidFill>
              </a:rPr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 err="1">
                <a:solidFill>
                  <a:srgbClr val="667EEA"/>
                </a:solidFill>
              </a:rPr>
              <a:t>개발</a:t>
            </a:r>
            <a:r>
              <a:rPr sz="1600" b="1" dirty="0">
                <a:solidFill>
                  <a:srgbClr val="667EEA"/>
                </a:solidFill>
              </a:rPr>
              <a:t> </a:t>
            </a:r>
            <a:r>
              <a:rPr sz="1600" b="1" dirty="0" err="1">
                <a:solidFill>
                  <a:srgbClr val="667EEA"/>
                </a:solidFill>
              </a:rPr>
              <a:t>성과</a:t>
            </a:r>
            <a:endParaRPr sz="1600" b="1" dirty="0">
              <a:solidFill>
                <a:srgbClr val="667EEA"/>
              </a:solidFill>
            </a:endParaRPr>
          </a:p>
          <a:p>
            <a:pPr>
              <a:spcBef>
                <a:spcPts val="400"/>
              </a:spcBef>
            </a:pPr>
            <a:r>
              <a:rPr sz="1200" dirty="0">
                <a:solidFill>
                  <a:srgbClr val="444444"/>
                </a:solidFill>
              </a:rPr>
              <a:t>1주일 MVP </a:t>
            </a:r>
            <a:r>
              <a:rPr sz="1200" dirty="0" err="1">
                <a:solidFill>
                  <a:srgbClr val="444444"/>
                </a:solidFill>
              </a:rPr>
              <a:t>완성</a:t>
            </a:r>
            <a:r>
              <a:rPr sz="1200" dirty="0">
                <a:solidFill>
                  <a:srgbClr val="444444"/>
                </a:solidFill>
              </a:rPr>
              <a:t>, React </a:t>
            </a:r>
            <a:r>
              <a:rPr sz="1200" dirty="0" err="1">
                <a:solidFill>
                  <a:srgbClr val="444444"/>
                </a:solidFill>
              </a:rPr>
              <a:t>기반</a:t>
            </a:r>
            <a:r>
              <a:rPr sz="1200" dirty="0">
                <a:solidFill>
                  <a:srgbClr val="444444"/>
                </a:solidFill>
              </a:rPr>
              <a:t> </a:t>
            </a:r>
            <a:r>
              <a:rPr sz="1200" dirty="0" err="1">
                <a:solidFill>
                  <a:srgbClr val="444444"/>
                </a:solidFill>
              </a:rPr>
              <a:t>모던</a:t>
            </a:r>
            <a:r>
              <a:rPr sz="1200" dirty="0">
                <a:solidFill>
                  <a:srgbClr val="444444"/>
                </a:solidFill>
              </a:rPr>
              <a:t> UI, </a:t>
            </a:r>
            <a:r>
              <a:rPr sz="1200" dirty="0" err="1">
                <a:solidFill>
                  <a:srgbClr val="444444"/>
                </a:solidFill>
              </a:rPr>
              <a:t>감정</a:t>
            </a:r>
            <a:r>
              <a:rPr sz="1200" dirty="0">
                <a:solidFill>
                  <a:srgbClr val="444444"/>
                </a:solidFill>
              </a:rPr>
              <a:t> </a:t>
            </a:r>
            <a:r>
              <a:rPr sz="1200" dirty="0" err="1">
                <a:solidFill>
                  <a:srgbClr val="444444"/>
                </a:solidFill>
              </a:rPr>
              <a:t>분석</a:t>
            </a:r>
            <a:r>
              <a:rPr sz="1200" dirty="0">
                <a:solidFill>
                  <a:srgbClr val="444444"/>
                </a:solidFill>
              </a:rPr>
              <a:t> </a:t>
            </a:r>
            <a:r>
              <a:rPr sz="1200" dirty="0" err="1">
                <a:solidFill>
                  <a:srgbClr val="444444"/>
                </a:solidFill>
              </a:rPr>
              <a:t>기능</a:t>
            </a:r>
            <a:r>
              <a:rPr sz="1200" dirty="0">
                <a:solidFill>
                  <a:srgbClr val="444444"/>
                </a:solidFill>
              </a:rPr>
              <a:t> </a:t>
            </a:r>
            <a:r>
              <a:rPr sz="1200" dirty="0" err="1">
                <a:solidFill>
                  <a:srgbClr val="444444"/>
                </a:solidFill>
              </a:rPr>
              <a:t>구현</a:t>
            </a:r>
            <a:endParaRPr sz="1200" dirty="0">
              <a:solidFill>
                <a:srgbClr val="444444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754880" y="301752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dirty="0" err="1">
                <a:solidFill>
                  <a:srgbClr val="764BA2"/>
                </a:solidFill>
              </a:rPr>
              <a:t>향후</a:t>
            </a:r>
            <a:r>
              <a:rPr sz="1800" b="1" dirty="0">
                <a:solidFill>
                  <a:srgbClr val="764BA2"/>
                </a:solidFill>
              </a:rPr>
              <a:t> </a:t>
            </a:r>
            <a:r>
              <a:rPr sz="1800" b="1" dirty="0" err="1">
                <a:solidFill>
                  <a:srgbClr val="764BA2"/>
                </a:solidFill>
              </a:rPr>
              <a:t>계획</a:t>
            </a:r>
            <a:endParaRPr sz="1800" b="1" dirty="0">
              <a:solidFill>
                <a:srgbClr val="764BA2"/>
              </a:solidFill>
            </a:endParaRPr>
          </a:p>
          <a:p>
            <a:pPr>
              <a:spcBef>
                <a:spcPts val="600"/>
              </a:spcBef>
            </a:pPr>
            <a:r>
              <a:rPr sz="1300" dirty="0">
                <a:solidFill>
                  <a:srgbClr val="444444"/>
                </a:solidFill>
              </a:rPr>
              <a:t>PWA </a:t>
            </a:r>
            <a:r>
              <a:rPr sz="1300" dirty="0" err="1">
                <a:solidFill>
                  <a:srgbClr val="444444"/>
                </a:solidFill>
              </a:rPr>
              <a:t>지원</a:t>
            </a:r>
            <a:r>
              <a:rPr sz="1300" dirty="0">
                <a:solidFill>
                  <a:srgbClr val="444444"/>
                </a:solidFill>
              </a:rPr>
              <a:t>, AI </a:t>
            </a:r>
            <a:r>
              <a:rPr sz="1300" dirty="0" err="1">
                <a:solidFill>
                  <a:srgbClr val="444444"/>
                </a:solidFill>
              </a:rPr>
              <a:t>분석</a:t>
            </a:r>
            <a:r>
              <a:rPr sz="1300" dirty="0">
                <a:solidFill>
                  <a:srgbClr val="444444"/>
                </a:solidFill>
              </a:rPr>
              <a:t> </a:t>
            </a:r>
            <a:r>
              <a:rPr sz="1300" dirty="0" err="1">
                <a:solidFill>
                  <a:srgbClr val="444444"/>
                </a:solidFill>
              </a:rPr>
              <a:t>고도화</a:t>
            </a:r>
            <a:r>
              <a:rPr sz="1300" dirty="0">
                <a:solidFill>
                  <a:srgbClr val="444444"/>
                </a:solidFill>
              </a:rPr>
              <a:t>, </a:t>
            </a:r>
            <a:r>
              <a:rPr sz="1300" dirty="0" err="1">
                <a:solidFill>
                  <a:srgbClr val="444444"/>
                </a:solidFill>
              </a:rPr>
              <a:t>모바일</a:t>
            </a:r>
            <a:r>
              <a:rPr sz="1300" dirty="0">
                <a:solidFill>
                  <a:srgbClr val="444444"/>
                </a:solidFill>
              </a:rPr>
              <a:t> </a:t>
            </a:r>
            <a:r>
              <a:rPr sz="1300" dirty="0" err="1">
                <a:solidFill>
                  <a:srgbClr val="444444"/>
                </a:solidFill>
              </a:rPr>
              <a:t>앱</a:t>
            </a:r>
            <a:r>
              <a:rPr sz="1300" dirty="0">
                <a:solidFill>
                  <a:srgbClr val="444444"/>
                </a:solidFill>
              </a:rPr>
              <a:t>, </a:t>
            </a:r>
            <a:r>
              <a:rPr sz="1300" dirty="0" err="1">
                <a:solidFill>
                  <a:srgbClr val="444444"/>
                </a:solidFill>
              </a:rPr>
              <a:t>클라우드</a:t>
            </a:r>
            <a:r>
              <a:rPr sz="1300" dirty="0">
                <a:solidFill>
                  <a:srgbClr val="444444"/>
                </a:solidFill>
              </a:rPr>
              <a:t> </a:t>
            </a:r>
            <a:r>
              <a:rPr sz="1300" dirty="0" err="1">
                <a:solidFill>
                  <a:srgbClr val="444444"/>
                </a:solidFill>
              </a:rPr>
              <a:t>백업</a:t>
            </a:r>
            <a:endParaRPr sz="1300" dirty="0">
              <a:solidFill>
                <a:srgbClr val="444444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371600" y="4389120"/>
            <a:ext cx="6400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667EEA"/>
                </a:solidFill>
              </a:rPr>
              <a:t>색채로 기록하는 나의 감정 여정</a:t>
            </a:r>
          </a:p>
          <a:p>
            <a:pPr algn="ctr"/>
            <a:r>
              <a:rPr sz="2400" b="1">
                <a:solidFill>
                  <a:srgbClr val="764BA2"/>
                </a:solidFill>
              </a:rPr>
              <a:t>Mind Palette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354</Words>
  <Application>Microsoft Macintosh PowerPoint</Application>
  <PresentationFormat>화면 슬라이드 쇼(16:9)</PresentationFormat>
  <Paragraphs>53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박연선님(SP (SUNNY PARK))/스포츠콘텐츠기획팀</cp:lastModifiedBy>
  <cp:revision>2</cp:revision>
  <dcterms:created xsi:type="dcterms:W3CDTF">2013-01-27T09:14:16Z</dcterms:created>
  <dcterms:modified xsi:type="dcterms:W3CDTF">2025-10-27T02:22:16Z</dcterms:modified>
  <cp:category/>
</cp:coreProperties>
</file>